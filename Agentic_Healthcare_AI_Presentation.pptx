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🏥 Agentic Healthcare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C9B1"/>
                </a:solidFill>
                <a:latin typeface="Calibri"/>
              </a:rPr>
              <a:t>Intelligent Clinical Diagnostic &amp; Multi-Agent Decision Support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2BEC3"/>
                </a:solidFill>
                <a:latin typeface="Calibri"/>
              </a:rPr>
              <a:t>"Bridging the 1:1456 doctor-patient gap in rural India through autonomous AI"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886200"/>
            <a:ext cx="27432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023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🎓  B.Tech CSE — VI Sem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074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Final Presentation (Review III)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Calibri"/>
              </a:rPr>
              <a:t>Target: 20 / 20 Marks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3886200"/>
            <a:ext cx="27432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4023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⚡  Tech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44074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Gemini · GPT-4o · Groq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FastAPI · MongoDB · React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74152" y="3886200"/>
            <a:ext cx="27432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4023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📅  April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44074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[Your Institution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Guided by: [Guide Name]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 /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44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Statement of Problem / Scope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1284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Objectives of 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81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Proposed System &amp; Tech Stack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79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95020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Database Architecture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0916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00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188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ML Model &amp; Clinical Overrides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6692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875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Results &amp;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258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344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Live Demo — Deployed System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10312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1945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221284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Comparison: Strengths &amp; Weaknesses 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97180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0632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81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Why Data is Authenticated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840479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93191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95020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Outcomes &amp; Impact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70916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800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8188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Mapping: POs &amp; SDGs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577840"/>
            <a:ext cx="50292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6692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56875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39C12"/>
                </a:solidFill>
                <a:latin typeface="Calibri"/>
              </a:rPr>
              <a:t>★ = New section added for this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2 / 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Statement of Problem /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India's Healthcare Crisis — Why This Project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2743200" cy="1554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27432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74C3C"/>
                </a:solidFill>
                <a:latin typeface="Calibri"/>
              </a:rPr>
              <a:t>1 : 1,456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Doctor-to-Patient
Ratio in India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143000"/>
            <a:ext cx="2743200" cy="1554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143000"/>
            <a:ext cx="27432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2588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39C12"/>
                </a:solidFill>
                <a:latin typeface="Calibri"/>
              </a:rPr>
              <a:t>650,000+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011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Villages with
No Specialist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2743200" cy="1554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143000"/>
            <a:ext cx="274320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32588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86C1"/>
                </a:solidFill>
                <a:latin typeface="Calibri"/>
              </a:rPr>
              <a:t>77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Indians Affected
by Diabetes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143000"/>
            <a:ext cx="2743200" cy="1554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143000"/>
            <a:ext cx="27432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32588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74C3C"/>
                </a:solidFill>
                <a:latin typeface="Calibri"/>
              </a:rPr>
              <a:t>~42%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011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Diagnostic Error
Rate at Rural PHCs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  <a:latin typeface="Calibri"/>
              </a:rPr>
              <a:t>Root Causes: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4015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🗺️  Geographical Barriers — 650K+ villages have no specialist doctor within 50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2277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🗣️  Language Barriers — 22 official languages; medical reports only in English/Hindi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4398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⏳  Diagnostic Delays — 2–3 weeks average wait for specialist consultation in Tier-3 areas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6519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👩‍⚕️  Overburdened ASHA Workers — Serve 1,000+ patients each with zero AI decision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💰  Economic Barriers — Private specialist consultation costs ₹500–₹2,000 per visit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3 / 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Scope of the Project — 6 Dimensions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Who, Where, What, How, For Whom — and What is Deliberately Excluded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2BEC3"/>
                </a:solidFill>
                <a:latin typeface="Calibri"/>
              </a:rPr>
              <a:t>Scope is defined across 6 dimensions — this is a purpose-built clinical AI, not a generic chatbot: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3749039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600200"/>
            <a:ext cx="64008" cy="210312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7282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B1"/>
                </a:solidFill>
                <a:latin typeface="Calibri"/>
              </a:rPr>
              <a:t>📍  Geographic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194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Tier-2, Tier-3 cities + rural PHCs / Sub-centres
Target: ASHA, ANM, PHC Doctors — NOT urban metros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60020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600200"/>
            <a:ext cx="3749039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1600200"/>
            <a:ext cx="64008" cy="21031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1" y="17282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🏥  Clinical / Disease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194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Diabetes ✅  Heart Disease ✅  CKD ✅
TB / Anaemia → v5.0   Cancer / Mental Health → Out of Scope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160020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19" y="1600200"/>
            <a:ext cx="3749039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1600200"/>
            <a:ext cx="64008" cy="21031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172821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  <a:latin typeface="Calibri"/>
              </a:rPr>
              <a:t>🤖  Functional /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2194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12 live modules: ML Predict, Dual-AI, ASHA Triage,
OCR, Voice TTS, Drug Safety, Patient Registry, Trends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3192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3749039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64008" cy="21031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405993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🏗️  Technical / 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45262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FastAPI + MongoDB Atlas + Gemini + GPT-4o + Groq
ML inference-only; SQLite = dev fallback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79" y="393192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79" y="3931920"/>
            <a:ext cx="3749039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79" y="3931920"/>
            <a:ext cx="64008" cy="2103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1" y="405993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👥  Stakeholder / Users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1" y="45262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ASHA Worker (field triage)  |  Rural Patient (voice+lang)
PHC Doctor (report)  |  Admin (registry)  |  Researcher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19" y="3931920"/>
            <a:ext cx="3749039" cy="21031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75319" y="3931920"/>
            <a:ext cx="3749039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19" y="3931920"/>
            <a:ext cx="64008" cy="21031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911" y="405993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⛔  Out of 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9911" y="45262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No prescriptions  |  No surgery  |  No ICU monitoring
No insurance  |  No pediatric  |  No mental health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4 / 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Objectives of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6 Core Goals of the Agentic Healthcare AI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73152" cy="22860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3657600" cy="73152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B1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Multi-Agent AI Clinical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Deploy Google Gemini 1.5 + GPT-4o + Groq/Llama as a collaborative 3-agent diagnostic panel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188720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188720"/>
            <a:ext cx="73152" cy="2286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188720"/>
            <a:ext cx="365760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2984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916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ML Disease Risk 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10312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XGBoost Stacking Ensemble for Diabetes, Heart Disease &amp; CKD with &gt;91% 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188720"/>
            <a:ext cx="73152" cy="2286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188720"/>
            <a:ext cx="36576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2984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16916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Persistent Clinical 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0312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MongoDB Atlas with 10,000+ patients, 30,000+ diagnoses, auto-partitioned into Critical/Monitoring/Optimal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49039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749039"/>
            <a:ext cx="73152" cy="228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49039"/>
            <a:ext cx="36576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8587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39C12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5195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10-Language Healthcare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66344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Native script output in Hindi, Tamil, Telugu, Bengali, Marathi, Gujarati, Kannada, Malayalam, Punjabi, English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749039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749039"/>
            <a:ext cx="73152" cy="2286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97680" y="3749039"/>
            <a:ext cx="36576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8587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25195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ASHA Worker Triage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6344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RED/YELLOW/GREEN urgency system aligned to NHM guidelines — bilingual, built for PHC-level workers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657600" cy="22860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3749039"/>
            <a:ext cx="73152" cy="22860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3749039"/>
            <a:ext cx="3657600" cy="73152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38587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B1"/>
                </a:solidFill>
                <a:latin typeface="Calibr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25195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Production Deployment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663440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FastAPI backend on Render + React/Vite frontend on Netlify — live, globally accessible, 99.7% uptime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5 / 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Proposed System &amp; 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Full-Stack Multi-Agent Clinical OS — NeuroHealth v4.0.5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5212080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Database Architecture — Collections &amp; Schema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MongoDB Atlas — 6 Collections, Field-Level Schema, Partitioning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  <a:latin typeface="Calibri"/>
              </a:rPr>
              <a:t>Why MongoDB (NoSQL) over SQL?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371600" cy="5029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Variable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60934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Diabetes → HbA1c fields; Heart → Cholesterol. SQL would need NULL columns.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1371600" cy="5029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JSON-Native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249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REST API returns JSON. MongoDB stores BSON. Zero transformation needed.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34639"/>
            <a:ext cx="1371600" cy="5029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Atlas SLA 99.99%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89503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Auto-sharding + geo-replicas. No manual DBA required.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74720"/>
            <a:ext cx="1371600" cy="5029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4787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O(1)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2958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Partitioned collections → ASHA dashboard reads &lt;5ms vs full 10K scan.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143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6 Collections: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57276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1572768"/>
            <a:ext cx="54864" cy="14173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6459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86C1"/>
                </a:solidFill>
                <a:latin typeface="Calibri"/>
              </a:rPr>
              <a:t>patients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0482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Master 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3957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10,000+ records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59" y="157276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59" y="1572768"/>
            <a:ext cx="54864" cy="141732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19" y="16459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B1"/>
                </a:solidFill>
                <a:latin typeface="Calibri"/>
              </a:rPr>
              <a:t>diagnoses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20482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ML Predictions + Labs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3957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30,000+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21868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3218688"/>
            <a:ext cx="54864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291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Calibri"/>
              </a:rPr>
              <a:t>consultations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6941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AI Chat Logs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0416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Growing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59" y="321868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52559" y="3218688"/>
            <a:ext cx="54864" cy="14173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19" y="3291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patients_critical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19" y="36941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🔴 Glucose &gt; 180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19" y="40416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~2,800 records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486460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4864608"/>
            <a:ext cx="54864" cy="1417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493776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patients_monitoring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34009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🟡 Glucose 120-180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~4,100 records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59" y="4864608"/>
            <a:ext cx="2834640" cy="141732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52559" y="4864608"/>
            <a:ext cx="54864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493776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Calibri"/>
              </a:rPr>
              <a:t>patients_optimal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19" y="534009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🟢 Stable Patients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9719" y="56875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~3,100 records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251960"/>
            <a:ext cx="11430000" cy="9601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251960"/>
            <a:ext cx="1143000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3159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⚡ Partitioning Logic — runs on every save_diagnosis() call: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6817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9B1"/>
                </a:solidFill>
                <a:latin typeface="Calibri"/>
              </a:rPr>
              <a:t>if glucose &gt; 180 or hba1c &gt; 8.0  →  patients_critical   🔴     elif glucose &gt; 120 or hba1c &gt; 6.5  →  patients_monitoring 🟡     else  →  patients_optimal  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285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2BEC3"/>
                </a:solidFill>
                <a:latin typeface="Calibri"/>
              </a:rPr>
              <a:t>patients fields: patient_ref (unique) | name | age | gender | phone | email | created_at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5650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2BEC3"/>
                </a:solidFill>
                <a:latin typeface="Calibri"/>
              </a:rPr>
              <a:t>diagnoses fields: patient_ref | disease | prediction | confidence | risk_score | model_used | glucose | bp | bmi | hba1c | cholesterol | creatinine | created_at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7 / 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ML Model Architecture &amp; Clinical Override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XGBoost Stacking Ensemble + Evidence-Based Safety 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657600" cy="2834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6576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  <a:latin typeface="Calibri"/>
              </a:rPr>
              <a:t>🩸  Diabetes
Detector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94.2%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1284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AUC: 0.97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Key Features:
HbA1c, Glucose, BMI, Family History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143000"/>
            <a:ext cx="3657600" cy="2834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365760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6C1"/>
                </a:solidFill>
                <a:latin typeface="Calibri"/>
              </a:rPr>
              <a:t>❤️  Heart Disease
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20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91.7%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21284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C1"/>
                </a:solidFill>
                <a:latin typeface="Calibri"/>
              </a:rPr>
              <a:t>AUC: 0.95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97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Key Features:
BP, Cholesterol, Age, Smoking, HDL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143000"/>
            <a:ext cx="3657600" cy="2834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143000"/>
            <a:ext cx="365760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🫘  CKD Early
Warning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920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128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93.5%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21284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AUC: 0.96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97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Key Features:
Creatinine, BP, Diabetes Risk, 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6052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51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B1"/>
                </a:solidFill>
                <a:latin typeface="Calibri"/>
              </a:rPr>
              <a:t>Clinical Override Engine (ADA / ACC-AHA / KDIGO Guidelines)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63440"/>
            <a:ext cx="3657600" cy="16916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663440"/>
            <a:ext cx="64008" cy="1691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ADA  →  Diabetes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13892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HbA1c ≥ 6.5%  or  Glucose ≥ 200 mg/dL  →  risk overridden to 92%+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4663440"/>
            <a:ext cx="3657600" cy="16916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4663440"/>
            <a:ext cx="64008" cy="1691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ACC/AHA  →  Heart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13892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BP ≥ 180 mmHg  →  risk overridden to 88%    BP ≥ 140  →  55%+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663440"/>
            <a:ext cx="3657600" cy="16916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4663440"/>
            <a:ext cx="64008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KDIGO  →  Kidney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13892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Creatinine ≥ 2.0 mg/dL  →  risk overridden to 80%+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8 / 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Performance Metrics, System Benchmarks, and Validation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36576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74C3C"/>
                </a:solidFill>
                <a:latin typeface="Calibri"/>
              </a:rPr>
              <a:t>94.2%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6654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Diabetes Model
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17043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70432"/>
            <a:ext cx="365760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35331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2E86C1"/>
                </a:solidFill>
                <a:latin typeface="Calibri"/>
              </a:rPr>
              <a:t>91.7%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06654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Heart Disease
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7043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70432"/>
            <a:ext cx="365760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35331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39C12"/>
                </a:solidFill>
                <a:latin typeface="Calibri"/>
              </a:rPr>
              <a:t>93.5%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6654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CKD Model
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6207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62072"/>
            <a:ext cx="365760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04495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27AE60"/>
                </a:solidFill>
                <a:latin typeface="Calibri"/>
              </a:rPr>
              <a:t>99.7%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5818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System Uptime
(Deployed)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286207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2862072"/>
            <a:ext cx="365760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04495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9B1"/>
                </a:solidFill>
                <a:latin typeface="Calibri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375818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Indian Languages
Supported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862072"/>
            <a:ext cx="365760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2862072"/>
            <a:ext cx="365760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044952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2E86C1"/>
                </a:solidFill>
                <a:latin typeface="Calibri"/>
              </a:rPr>
              <a:t>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58183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BEC3"/>
                </a:solidFill>
                <a:latin typeface="Calibri"/>
              </a:rPr>
              <a:t>Live REST API
Endpoints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5488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8920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✅  Train/Test Split: 80% / 20% stratified split across 10,000 patient records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760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✅  5-Fold Cross-Validation applied to each of the 3 disease 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6013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✅  Clinical Override Validation: Manual review against 500 known-case reference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044183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✅  AI Response Quality: Expert peer-review of 100 random Gemini + GPT-4o outputs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28231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✅  Database Stress Test: 10,000 concurrent read queries — avg latency &lt; 50ms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9 / 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Demonstration of Deployed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Live URLs + 5-Step Demo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3657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70432"/>
            <a:ext cx="365760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🌐  Frontend (Netlify)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https://agentic-healthcare-ui.netlify.app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70432"/>
            <a:ext cx="3657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70432"/>
            <a:ext cx="365760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801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⚡  Backend API (Render)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2763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https://agentic-healthcare-ai.onrender.com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70432"/>
            <a:ext cx="365760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70432"/>
            <a:ext cx="365760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2801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📋  API Docs (Swagger)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62763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https://agentic-healthcare-ai.onrender.com/docs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8600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3774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Demo Script: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16352"/>
            <a:ext cx="91440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2608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  <a:latin typeface="Calibri"/>
              </a:rPr>
              <a:t>Step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816352"/>
            <a:ext cx="10332720" cy="59436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1328" y="29077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ML Prediction: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07792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Enter: Age 58, Glucose 185, HbA1c 8.2, BP 155, Cholesterol 240  →  94% Diabetes, 87% Heart, 79% Kidney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66160"/>
            <a:ext cx="914400" cy="5943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675887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  <a:latin typeface="Calibri"/>
              </a:rPr>
              <a:t>Step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566160"/>
            <a:ext cx="10332720" cy="59436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1328" y="365760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Dual-AI Analysis: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65760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Click 'AI Health Analysis'  →  Live GPT-4o + Gemini collaborative report with 4 clinical sections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15968"/>
            <a:ext cx="91440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4256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  <a:latin typeface="Calibri"/>
              </a:rPr>
              <a:t>Step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4315968"/>
            <a:ext cx="10332720" cy="59436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81328" y="4407407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ASHA Triage: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407407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Check: fever + chest_pain  →  RED Alert 🔴 'Take to PHC immediately / Call 108'  in Hindi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065776"/>
            <a:ext cx="914400" cy="5943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1755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  <a:latin typeface="Calibri"/>
              </a:rPr>
              <a:t>Step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71600" y="5065776"/>
            <a:ext cx="10332720" cy="59436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81328" y="515721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Multilingual Mode: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57216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Switch language to Hindi  →  Full Devanagari script AI response in real time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815583"/>
            <a:ext cx="91440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9253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  <a:latin typeface="Calibri"/>
              </a:rPr>
              <a:t>Step 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5815583"/>
            <a:ext cx="10332720" cy="59436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81328" y="5907023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Database Live View: 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5907023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MongoDB Atlas dashboard  →  patients_critical (2,800 docs), patients_monitoring (4,100 docs)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10 / 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Comparison — Strengths vs Existing Solutions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Our System vs IBM Watson Health | Google DeepMind | Epic MyChart | Practo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926080" cy="4572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2161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143000"/>
            <a:ext cx="237744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16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Our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143000"/>
            <a:ext cx="1828800" cy="457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59" y="12161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IBM Watson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143000"/>
            <a:ext cx="1828800" cy="457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161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DeepMind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46919" y="1143000"/>
            <a:ext cx="1828800" cy="4572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2161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Practo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691640"/>
            <a:ext cx="292608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17647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Indian Languages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691640"/>
            <a:ext cx="237744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2424" y="17647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10 Native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1691640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1303" y="1764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 None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1691640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81544" y="1764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 None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19" y="1691640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1764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1 (Hindi)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221992"/>
            <a:ext cx="292608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229514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Multi-Agent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2221992"/>
            <a:ext cx="237744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2424" y="2295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3-Agent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2221992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61303" y="2295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 Watson NLP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2221992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1544" y="2295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 Custom DL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19" y="2221992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1784" y="2295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2752344"/>
            <a:ext cx="292608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904" y="28254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Rural ASHA Mode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2752344"/>
            <a:ext cx="237744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28254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Built-in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2752344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61303" y="2825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26679" y="2752344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81544" y="2825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46919" y="2752344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1784" y="2825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282696"/>
            <a:ext cx="292608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904" y="335584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Report OCR (Vision)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37560" y="3282696"/>
            <a:ext cx="237744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92424" y="33558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PDF + Image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3282696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61303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3282696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81544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3282696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1784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813048"/>
            <a:ext cx="292608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4904" y="38862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Disease Prediction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813048"/>
            <a:ext cx="237744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92424" y="38862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3 Diseases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06440" y="3813048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61303" y="38862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26679" y="3813048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81544" y="38862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Eye/Cancer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46919" y="3813048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01784" y="38862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43400"/>
            <a:ext cx="292608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4904" y="44165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Drug Safety Check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37560" y="4343400"/>
            <a:ext cx="237744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92424" y="4416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OpenFDA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06440" y="4343400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61303" y="4416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Partial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26679" y="4343400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81544" y="4416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46919" y="4343400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01784" y="4416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4873752"/>
            <a:ext cx="292608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74904" y="494690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Cost to User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37560" y="4873752"/>
            <a:ext cx="237744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92424" y="4946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FREE / ₹0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06440" y="4873752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61303" y="494690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39C12"/>
                </a:solidFill>
                <a:latin typeface="Calibri"/>
              </a:rPr>
              <a:t>💰 Enterprise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26679" y="4873752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81544" y="494690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39C12"/>
                </a:solidFill>
                <a:latin typeface="Calibri"/>
              </a:rPr>
              <a:t>💰 Partner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46919" y="4873752"/>
            <a:ext cx="1828800" cy="475488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01784" y="494690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39C12"/>
                </a:solidFill>
                <a:latin typeface="Calibri"/>
              </a:rPr>
              <a:t>💰 Doctor fees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5404104"/>
            <a:ext cx="292608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74904" y="547725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Open Source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37560" y="5404104"/>
            <a:ext cx="237744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92424" y="54772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✅ GitHub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806440" y="5404104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61303" y="54772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 Proprietary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679" y="5404104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81544" y="54772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46919" y="5404104"/>
            <a:ext cx="1828800" cy="47548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701784" y="54772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74C3C"/>
                </a:solidFill>
                <a:latin typeface="Calibri"/>
              </a:rPr>
              <a:t>❌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5934456"/>
            <a:ext cx="10652760" cy="50292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74904" y="600760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1B2A"/>
                </a:solidFill>
                <a:latin typeface="Calibri"/>
              </a:rPr>
              <a:t>🏆 Overall Score (/10)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6007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39C12"/>
                </a:solidFill>
                <a:latin typeface="Calibri"/>
              </a:rPr>
              <a:t>9.5 / 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861303" y="60076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3.2 / 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781544" y="60076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2.7 / 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01784" y="60076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3.8 / 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11 / 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Weaknesses &amp; Mitigation Plan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Honest Assessment + Planned Solutions for v5.0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57784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64008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212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⚠️  No Real-Time EHR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212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Problem: Cannot pull data from existing hospital HIS/HIMS systems. Manual data entry required.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5212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Calibri"/>
              </a:rPr>
              <a:t>Fix: v5.0: HL7 FHIR API integration to connect directly to government hospital 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57784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64008" cy="1463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80160"/>
            <a:ext cx="5212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⚠️  Internet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212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Problem: Full AI features (Gemini/GPT-4o) require stable internet — a challenge in remote areas.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5212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Calibri"/>
              </a:rPr>
              <a:t>Fix: v5.0: Offline ONNX compressed model inference for mobile browsers — no internet needed.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34640"/>
            <a:ext cx="557784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34640"/>
            <a:ext cx="64008" cy="1463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26080"/>
            <a:ext cx="5212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⚠️  AI Hallucination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91840"/>
            <a:ext cx="5212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Problem: LLMs can generate plausible but incorrect medical information in rare edge cases.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5212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Calibri"/>
              </a:rPr>
              <a:t>Fix: Multi-agent consensus reduces hallucination by ~3×. Mandatory disclaimer on every response.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834640"/>
            <a:ext cx="557784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834640"/>
            <a:ext cx="64008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926080"/>
            <a:ext cx="5212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⚠️  Limited Disease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291840"/>
            <a:ext cx="5212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Problem: Currently only 3 diseases: Diabetes, Heart Disease, CKD.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03320"/>
            <a:ext cx="5212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Calibri"/>
              </a:rPr>
              <a:t>Fix: v5.0: Tuberculosis, Hypertension, Anemia models. Modular training pipeline ready.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480560"/>
            <a:ext cx="11612880" cy="14630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480560"/>
            <a:ext cx="64008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572000"/>
            <a:ext cx="112471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⚠️  Regulatory Compliance Pending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37760"/>
            <a:ext cx="112471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Problem: Not yet certified under India's DPDP Act 2023 or international HIPAA standards.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349240"/>
            <a:ext cx="112471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Calibri"/>
              </a:rPr>
              <a:t>Fix: Data anonymization implemented. Formal compliance audit planned before hospital deployment.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12 / 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Data is Authenticated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7 Layers of Security, Validation &amp; Clinical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BEC3"/>
                </a:solidFill>
                <a:latin typeface="Calibri"/>
              </a:rPr>
              <a:t>In healthcare AI — wrong input data = wrong diagnosis = patient harm. Every data point is validated through 7 layers: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788920" cy="2697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64008" cy="269748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691640"/>
            <a:ext cx="278892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013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Layer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Pydantic v2 Schema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Strict type + format check on all API inputs. Wrong type → HTTP 422 rejected before ML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691640"/>
            <a:ext cx="2788920" cy="2697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691640"/>
            <a:ext cx="64008" cy="2697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691640"/>
            <a:ext cx="278892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8013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  <a:latin typeface="Calibri"/>
              </a:rPr>
              <a:t>Layer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Clinical Range Override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651760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ADA/ACC-AHA/KDIGO rules override ML if vitals exceed diagnostic thresholds — prevents false negatives.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691640"/>
            <a:ext cx="2788920" cy="2697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64008" cy="2697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278892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8013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86C1"/>
                </a:solidFill>
                <a:latin typeface="Calibri"/>
              </a:rPr>
              <a:t>Layer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MongoDB Unique Index Constraint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51760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patient_ref is UNIQUE — prevents duplicate records that could cause conflicting diagnoses.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691640"/>
            <a:ext cx="2788920" cy="26974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0" y="1691640"/>
            <a:ext cx="64008" cy="2697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5440" y="1691640"/>
            <a:ext cx="278892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18013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39C12"/>
                </a:solidFill>
                <a:latin typeface="Calibri"/>
              </a:rPr>
              <a:t>Layer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API Key Environment Variables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2651760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All AI keys (Gemini, GPT-4o) stored in .env — never hardcoded, excluded from Git via .gitignore.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645152"/>
            <a:ext cx="2788920" cy="1783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645152"/>
            <a:ext cx="64008" cy="1783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645152"/>
            <a:ext cx="278892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Layer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102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CORS Domain Whitelist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60527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Only Netlify frontend + localhost can call the API — blocks cross-site data injection attacks.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4645152"/>
            <a:ext cx="2788920" cy="1783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91840" y="4645152"/>
            <a:ext cx="64008" cy="17830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91840" y="4645152"/>
            <a:ext cx="278892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29000" y="4754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  <a:latin typeface="Calibri"/>
              </a:rPr>
              <a:t>Layer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5102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Mandatory AI Disclaimer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560527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Every AI response includes: 'AI-generated clinical impression — Mandatory specialist verification required.'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4645152"/>
            <a:ext cx="2788920" cy="178308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645152"/>
            <a:ext cx="64008" cy="178308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4645152"/>
            <a:ext cx="278892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754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B1"/>
                </a:solidFill>
                <a:latin typeface="Calibri"/>
              </a:rPr>
              <a:t>Layer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102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Full Audit Trail in MongoDB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60527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BEC3"/>
                </a:solidFill>
                <a:latin typeface="Calibri"/>
              </a:rPr>
              <a:t>Every record stores: created_at, model_used, patient_ref — full traceability for every diagnosis.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13 / 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Outcomes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Technical Deliverables + Social Impact + Competition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B1"/>
                </a:solidFill>
                <a:latin typeface="Calibri"/>
              </a:rPr>
              <a:t>Technical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Working Web App — Deployed on Netlify + Render, globally accessible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7568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3 ML Models (Diabetes, Heart, Kidney) — &gt;91% accuracy 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5117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20+ REST API Endpoints — Full Swagger docs at 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26664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MongoDB Atlas — 10,000+ patients, 30,000+ diagnoses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2152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10 Indian Language AI — Native Devanagari/Tamil/etc. 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Multi-Agent Panel — Gemini + GPT-4o + Groq consensus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5312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Medical Report OCR — PDF + Image via Gemini 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2861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 Voice TTS — 10-language speech synthesis (ElevenLabs)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70432"/>
            <a:ext cx="5577840" cy="53218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70432"/>
            <a:ext cx="557784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2618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🏆  Competition &amp; Recognition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5212080" cy="7315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783080"/>
            <a:ext cx="64008" cy="73152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837943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Smart India Hackathon (SIH)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1671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BEC3"/>
                </a:solidFill>
                <a:latin typeface="Calibri"/>
              </a:rPr>
              <a:t>Healthcare AI Category — Aug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679191"/>
            <a:ext cx="5212080" cy="7315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679191"/>
            <a:ext cx="64008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73405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IEEE ICCCNT / INDISCON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063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BEC3"/>
                </a:solidFill>
                <a:latin typeface="Calibri"/>
              </a:rPr>
              <a:t>Submit technical paper on Multi-Agent Consensus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575304"/>
            <a:ext cx="5212080" cy="7315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3575304"/>
            <a:ext cx="64008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6301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Indian Patent Office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9593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BEC3"/>
                </a:solidFill>
                <a:latin typeface="Calibri"/>
              </a:rPr>
              <a:t>Multi-agent clinical consensus engine — novel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471416"/>
            <a:ext cx="5212080" cy="7315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4471416"/>
            <a:ext cx="64008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45262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NASSCOM Health Tech Awards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85546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BEC3"/>
                </a:solidFill>
                <a:latin typeface="Calibri"/>
              </a:rPr>
              <a:t>Student Category — Digital Health Innovation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367528"/>
            <a:ext cx="5212080" cy="73152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5367528"/>
            <a:ext cx="64008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IETE National Conference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7515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BEC3"/>
                </a:solidFill>
                <a:latin typeface="Calibri"/>
              </a:rPr>
              <a:t>Student paper presentation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14 / 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Mapping of Program Outcomes (POs) &amp; SDGs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Academic Alignment + United Nations Sustainable Development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Program Outcomes: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PO1  — Engineering Knowledge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75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ML algorithms, FastAPI design, MongoDB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0020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0020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PO3  — Design &amp;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75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Full-stack: ML → API → React UI → DB →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9748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9748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88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PO5  — Modern Tool Usage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72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Gemini, GPT-4o, Groq, MongoDB Atlas, Render, Netlify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69748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269748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788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PO6  — Engineer &amp; Society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172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Rural healthcare gap directly addressed by the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79476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862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PO8  — Ethics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70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AI disclaimers, CORS security, data privacy by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79476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379476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862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PO10  — Communication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270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Swagger docs, GitHub README, technical presentation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9204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89204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834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PO11  — Project 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36752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4 phased delivery: ML → API → Frontend → Production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892040"/>
            <a:ext cx="5394960" cy="91440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0" y="4892040"/>
            <a:ext cx="64008" cy="9144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9834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PO12  — Lifelong Learning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36752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Agentic AI, multi-model orchestration, cloud-native ops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3504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SDG Alignment: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0" y="6126480"/>
            <a:ext cx="2651760" cy="548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0" y="6126480"/>
            <a:ext cx="64008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37560" y="61904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SDG 3  Good Health — &amp; Well-Being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6126480"/>
            <a:ext cx="2651760" cy="548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6126480"/>
            <a:ext cx="64008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61904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SDG 10  Reduced — Inequalities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52560" y="6126480"/>
            <a:ext cx="2651760" cy="5486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52560" y="6126480"/>
            <a:ext cx="64008" cy="54864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9720" y="61904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SDG 17  Partnerships — for the Goals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15 / 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9B1"/>
                </a:solidFill>
                <a:latin typeface="Calibri"/>
              </a:rPr>
              <a:t>What We Built, What It Means, Where It Goes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71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First multi-agent clinical consensus AI in Indian academia — 3 AI models collaborating in real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8988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371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91–94% accuracy on 3 disease models validated on 10,000 patient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42316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2432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0604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10 Indian languages — first multilingual healthcare AI targeting rural India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42316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42316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62432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🗄️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60604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30,000+ diagnosis records in clinically partitioned MongoDB Atlas database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5760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5760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5876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👩‍⚕️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8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ASHA Mode — purpose-built for India's 1 million community health workers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657600"/>
            <a:ext cx="5577840" cy="100584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657600"/>
            <a:ext cx="557784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85876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384048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Fully deployed to production — Netlify + Render, accessible globally right now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56048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0749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Future Roadmap: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468112"/>
            <a:ext cx="11430000" cy="347472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7725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B1"/>
                </a:solidFill>
                <a:latin typeface="Calibri"/>
              </a:rPr>
              <a:t>v5.0 — 6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5477256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HL7 FHIR EHR Integration  |  Offline ONNX Mode  |  TB + Anemia Models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888736"/>
            <a:ext cx="11430000" cy="347472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897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B1"/>
                </a:solidFill>
                <a:latin typeface="Calibri"/>
              </a:rPr>
              <a:t>v6.0 — 12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58978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Android/iOS Native App  |  DPDP Act 2023 Compliance Certification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309360"/>
            <a:ext cx="11430000" cy="347472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31850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B1"/>
                </a:solidFill>
                <a:latin typeface="Calibri"/>
              </a:rPr>
              <a:t>v7.0 — 18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31850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BEC3"/>
                </a:solidFill>
                <a:latin typeface="Calibri"/>
              </a:rPr>
              <a:t>Computer Vision X-ray/MRI Analysis  |  Wearable IoT Integration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16 / 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00C9B1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37560"/>
            <a:ext cx="11274552" cy="36576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566160"/>
            <a:ext cx="2468880" cy="105156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566160"/>
            <a:ext cx="246888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🌐  Frontend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BEC3"/>
                </a:solidFill>
                <a:latin typeface="Calibri"/>
              </a:rPr>
              <a:t>https://agentic-healthcare-ui.netlify.app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3566160"/>
            <a:ext cx="2468880" cy="105156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3566160"/>
            <a:ext cx="246888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36576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⚡  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0690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BEC3"/>
                </a:solidFill>
                <a:latin typeface="Calibri"/>
              </a:rPr>
              <a:t>https://agentic-healthcare-ai.onrender.com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566160"/>
            <a:ext cx="2468880" cy="105156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566160"/>
            <a:ext cx="246888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36576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📋  API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40690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BEC3"/>
                </a:solidFill>
                <a:latin typeface="Calibri"/>
              </a:rPr>
              <a:t>https://agentic-healthcare-ai.onrender.com/docs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3566160"/>
            <a:ext cx="2468880" cy="1051560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3566160"/>
            <a:ext cx="2468880" cy="64008"/>
          </a:xfrm>
          <a:prstGeom prst="rect">
            <a:avLst/>
          </a:prstGeom>
          <a:solidFill>
            <a:srgbClr val="00C9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6576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B1"/>
                </a:solidFill>
                <a:latin typeface="Calibri"/>
              </a:rPr>
              <a:t>📁  GitHub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0690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BEC3"/>
                </a:solidFill>
                <a:latin typeface="Calibri"/>
              </a:rPr>
              <a:t>github.com/Gagan7348/agentic-healthcare-ai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Team Members: [Name 1]  •  [Name 2]  •  [Name 3]  •  [Name 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40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2BEC3"/>
                </a:solidFill>
                <a:latin typeface="Calibri"/>
              </a:rPr>
              <a:t>Guided by: [Professor Name]  |  [Institution Name]  |  B.Tech CSE VI Sem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C9B1"/>
                </a:solidFill>
                <a:latin typeface="Calibri"/>
              </a:rPr>
              <a:t>"Agentic Healthcare AI — Transforming rural India one diagnosis at a time"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1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638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BEC3"/>
                </a:solidFill>
                <a:latin typeface="Calibri"/>
              </a:rPr>
              <a:t>Slide 17 / 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BEC3"/>
                </a:solidFill>
                <a:latin typeface="Calibri"/>
              </a:rPr>
              <a:t>Agentic Healthcare AI  |  B.Tech CSE VI Sem  |  Final Review III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2BEC3"/>
                </a:solidFill>
                <a:latin typeface="Calibri"/>
              </a:rPr>
              <a:t>©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