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🏥 Agentic Healthcare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9B1"/>
                </a:solidFill>
                <a:latin typeface="Calibri"/>
              </a:rPr>
              <a:t>Intelligent Clinical Diagnostic &amp; Multi-Agent Decision Support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97180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B2BEC3"/>
                </a:solidFill>
                <a:latin typeface="Calibri"/>
              </a:rPr>
              <a:t>"Bridging the 1:1456 doctor-patient gap in rural India through autonomous AI"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886200"/>
            <a:ext cx="27432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🎓  B.Tech CSE — VI Sem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Final Presentation (Review III)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7AE60"/>
                </a:solidFill>
                <a:latin typeface="Calibri"/>
              </a:rPr>
              <a:t>Target: 20 / 20 Marks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27448" y="3886200"/>
            <a:ext cx="27432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18888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⚡  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18888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Gemini · GPT-4o · Groq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FastAPI · MongoDB · React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74152" y="3886200"/>
            <a:ext cx="27432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65592" y="4023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📅  April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44074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[Your Institution Name]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47091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Guided by: [Guide Name]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 / 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25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44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Statement of Problem / Scope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2128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Objectives of Study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63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081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Proposed System &amp; Tech Stack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79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95020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Database Architecture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70916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800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818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ML Model &amp; Clinical Overrides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57784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6692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687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Results &amp; Validation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23444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3258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13441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Live Demo — Deployed System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10312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21945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21284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Comparison: Strengths &amp; Weaknesses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97180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0632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08152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Why Data is Authenticated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840479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393191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50207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Outcomes &amp; Impact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70916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800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60" y="481888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Mapping: POs &amp; SDGs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577840"/>
            <a:ext cx="50292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5669279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A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5687568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922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39C12"/>
                </a:solidFill>
                <a:latin typeface="Calibri"/>
              </a:rPr>
              <a:t>★ = New section added for this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2 /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Statement of Problem /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India's Healthcare Crisis — Why This Project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2743200" cy="1554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27432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  <a:latin typeface="Calibri"/>
              </a:rPr>
              <a:t>1 : 1,456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Doctor-to-Patient
Ratio in India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143000"/>
            <a:ext cx="2743200" cy="1554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143000"/>
            <a:ext cx="27432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39C12"/>
                </a:solidFill>
                <a:latin typeface="Calibri"/>
              </a:rPr>
              <a:t>650,000+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Villages with
No Specialist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43000"/>
            <a:ext cx="2743200" cy="1554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43000"/>
            <a:ext cx="27432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E86C1"/>
                </a:solidFill>
                <a:latin typeface="Calibri"/>
              </a:rPr>
              <a:t>77 Million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Indians Affected
by Diabetes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1143000"/>
            <a:ext cx="2743200" cy="1554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143000"/>
            <a:ext cx="27432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3258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74C3C"/>
                </a:solidFill>
                <a:latin typeface="Calibri"/>
              </a:rPr>
              <a:t>~42%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0116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Diagnostic Error
Rate at Rural PHCs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0175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Root Causes: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0156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🗺️  Geographical Barriers — 650K+ villages have no specialist doctor within 50 km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22776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🗣️  Language Barriers — 22 official languages; medical reports only in English/Hindi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43984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⏳  Diagnostic Delays — 2–3 weeks average wait for specialist consultation in Tier-3 areas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96519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👩‍⚕️  Overburdened ASHA Workers — Serve 1,000+ patients each with zero AI decision support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💰  Economic Barriers — Private specialist consultation costs ₹500–₹2,000 per visit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3 / 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Scope of the Project — 6 Dimensions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Who, Where, What, How, For Whom — and What is Deliberately Excluded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1556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2BEC3"/>
                </a:solidFill>
                <a:latin typeface="Calibri"/>
              </a:rPr>
              <a:t>Scope is defined across 6 dimensions — this is a purpose-built clinical AI, not a generic chatbot: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00200"/>
            <a:ext cx="3749039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00200"/>
            <a:ext cx="64008" cy="21031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728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C9B1"/>
                </a:solidFill>
                <a:latin typeface="Calibri"/>
              </a:rPr>
              <a:t>📍  Geographic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Tier-2, Tier-3 cities + rural PHCs / Sub-centres
Target: ASHA, ANM, PHC Doctors — NOT urban metros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79" y="160020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79" y="1600200"/>
            <a:ext cx="3749039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600200"/>
            <a:ext cx="64008" cy="21031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62271" y="1728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🏥  Clinical / Disease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2271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Diabetes ✅  Heart Disease ✅  CKD ✅
TB / Anaemia → v5.0   Cancer / Mental Health → Out of Scope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19" y="160020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19" y="1600200"/>
            <a:ext cx="3749039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19" y="1600200"/>
            <a:ext cx="64008" cy="21031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9911" y="172821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  <a:latin typeface="Calibri"/>
              </a:rPr>
              <a:t>🤖  Functional / 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9911" y="219456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12 live modules: ML Predict, Dual-AI, ASHA Triage,
OCR, Voice TTS, Drug Safety, Patient Registry, Trends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93192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3749039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64008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05993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🏗️  Technical /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" y="45262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FastAPI + MongoDB Atlas + Gemini + GPT-4o + Groq
ML inference-only; SQLite = dev fallback only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79" y="393192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97679" y="3931920"/>
            <a:ext cx="3749039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97679" y="3931920"/>
            <a:ext cx="64008" cy="2103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2271" y="405993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👥  Stakeholder / Users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1" y="45262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ASHA Worker (field triage)  |  Rural Patient (voice+lang)
PHC Doctor (report)  |  Admin (registry)  |  Researcher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3931920"/>
            <a:ext cx="3749039" cy="210312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19" y="3931920"/>
            <a:ext cx="3749039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19" y="3931920"/>
            <a:ext cx="64008" cy="21031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39911" y="4059935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⛔  Out of Scope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39911" y="452628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No prescriptions  |  No surgery  |  No ICU monitoring
No insurance  |  No pediatric  |  No mental health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4 / 17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Objectives of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6 Core Goals of the Agentic Healthcare AI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7315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88720"/>
            <a:ext cx="365760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984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Multi-Agent AI Clinical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Deploy Google Gemini 1.5 + GPT-4o + Groq/Llama as a collaborative 3-agent diagnostic panel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188720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1188720"/>
            <a:ext cx="73152" cy="22860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88720"/>
            <a:ext cx="3657600" cy="73152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984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86C1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ML Disease Risk 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1031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XGBoost Stacking Ensemble for Diabetes, Heart Disease &amp; CKD with &gt;91% 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188720"/>
            <a:ext cx="73152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188720"/>
            <a:ext cx="3657600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129844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6916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Persistent Clinical Database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10312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MongoDB Atlas with 10,000+ patients, 30,000+ diagnoses, auto-partitioned into Critical/Monitoring/Optimal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49039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749039"/>
            <a:ext cx="73152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749039"/>
            <a:ext cx="3657600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858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39C12"/>
                </a:solidFill>
                <a:latin typeface="Calibri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25195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10-Language Healthcare Access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6634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Native script output in Hindi, Tamil, Telugu, Bengali, Marathi, Gujarati, Kannada, Malayalam, Punjabi, English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3749039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297680" y="3749039"/>
            <a:ext cx="73152" cy="22860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749039"/>
            <a:ext cx="3657600" cy="7315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858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74C3C"/>
                </a:solidFill>
                <a:latin typeface="Calibri"/>
              </a:rP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25195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ASHA Worker Triage Tool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6634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RED/YELLOW/GREEN urgency system aligned to NHM guidelines — bilingual, built for PHC-level workers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749039"/>
            <a:ext cx="3657600" cy="22860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29600" y="3749039"/>
            <a:ext cx="73152" cy="2286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749039"/>
            <a:ext cx="3657600" cy="73152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385876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C9B1"/>
                </a:solidFill>
                <a:latin typeface="Calibri"/>
              </a:rP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251959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Production Deployment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66344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FastAPI backend on Render + React/Vite frontend on Netlify — live, globally accessible, 99.7% uptime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5 / 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Proposed System &amp; 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Full-Stack Multi-Agent Clinical OS — NeuroHealth v4.0.5</a:t>
            </a:r>
          </a:p>
        </p:txBody>
      </p:sp>
      <p:pic>
        <p:nvPicPr>
          <p:cNvPr id="6" name="Picture 5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212080" cy="5212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6 /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Database Architecture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MongoDB Atlas — Why NoSQL, How It's Structured, Partitioning Logic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  <a:latin typeface="Calibri"/>
              </a:rPr>
              <a:t>Why MongoDB (NoSQL)?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EC3"/>
                </a:solidFill>
                <a:latin typeface="Calibri"/>
              </a:rPr>
              <a:t>  ✦  Variable schema — different vitals per disease type (creatinine for kidney, cholesterol for heart)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56816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EC3"/>
                </a:solidFill>
                <a:latin typeface="Calibri"/>
              </a:rPr>
              <a:t>  ✦  Document model maps 1:1 to JSON REST API — zero transformation overhead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59152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EC3"/>
                </a:solidFill>
                <a:latin typeface="Calibri"/>
              </a:rPr>
              <a:t>  ✦  Atlas provides auto-sharding, geo-distributed replicas, 99.99% uptime SLA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61488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2BEC3"/>
                </a:solidFill>
                <a:latin typeface="Calibri"/>
              </a:rPr>
              <a:t>  ✦  Indexing + partitioned collections enable O(1) clinical triage lookup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401568"/>
            <a:ext cx="11274552" cy="36576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Collections: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64008" cy="10515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05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patients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525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Master Registry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268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10,000+ 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393192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3931920"/>
            <a:ext cx="64008" cy="10515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4005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diagnoses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525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ML Predictions + Labs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6268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30,000+  records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93192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3931920"/>
            <a:ext cx="64008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400507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consultations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35254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AI Chat Logs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462686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Growing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16636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5166360"/>
            <a:ext cx="64008" cy="1051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239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patients_critical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586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🔴 Glucose &gt; 180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861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~2,800  records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43400" y="516636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43400" y="5166360"/>
            <a:ext cx="64008" cy="1051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5239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patients_monitoring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6280" y="5586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🟡 Glucose &gt; 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861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~4,100  records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5166360"/>
            <a:ext cx="365760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0" y="5166360"/>
            <a:ext cx="64008" cy="1051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12480" y="523951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patients_optimal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558698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🟢 Stable Patients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861304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~3,100  records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7 / 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ML Model Architecture &amp; Clinical Override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XGBoost Stacking Ensemble + Evidence-Based Safety Net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3657600" cy="2834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36576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74C3C"/>
                </a:solidFill>
                <a:latin typeface="Calibri"/>
              </a:rPr>
              <a:t>🩸  Diabetes
Detector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128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212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4C3C"/>
                </a:solidFill>
                <a:latin typeface="Calibri"/>
              </a:rPr>
              <a:t>AUC: 0.97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Key Features:
HbA1c, Glucose, BMI, Family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143000"/>
            <a:ext cx="3657600" cy="2834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143000"/>
            <a:ext cx="36576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C1"/>
                </a:solidFill>
                <a:latin typeface="Calibri"/>
              </a:rPr>
              <a:t>❤️  Heart Disease
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2128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91.7%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212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C1"/>
                </a:solidFill>
                <a:latin typeface="Calibri"/>
              </a:rPr>
              <a:t>AUC: 0.95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Key Features:
BP, Cholesterol, Age, Smoking, HDL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143000"/>
            <a:ext cx="3657600" cy="2834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1143000"/>
            <a:ext cx="365760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1280160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39C12"/>
                </a:solidFill>
                <a:latin typeface="Calibri"/>
              </a:rPr>
              <a:t>🫘  CKD Early
Warning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Accuracy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21284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93.5%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60" y="22128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AUC: 0.96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69748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Key Features:
Creatinine, BP, Diabetes Risk, Age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25196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C9B1"/>
                </a:solidFill>
                <a:latin typeface="Calibri"/>
              </a:rPr>
              <a:t>Clinical Override Engine (ADA / ACC-AHA / KDIGO Guidelines)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663440"/>
            <a:ext cx="3657600" cy="16916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663440"/>
            <a:ext cx="64008" cy="16916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7365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ADA  →  Diabetes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51389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HbA1c ≥ 6.5%  or  Glucose ≥ 200 mg/dL  →  risk overridden to 92%+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4663440"/>
            <a:ext cx="3657600" cy="16916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4663440"/>
            <a:ext cx="64008" cy="1691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0560" y="47365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ACC/AHA  →  Heart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1389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BP ≥ 180 mmHg  →  risk overridden to 88%    BP ≥ 140  →  55%+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4663440"/>
            <a:ext cx="3657600" cy="16916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4663440"/>
            <a:ext cx="64008" cy="16916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0" y="473659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KDIGO  →  Kidney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5138928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Creatinine ≥ 2.0 mg/dL  →  risk overridden to 80%+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8 / 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Results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Performance Metrics, System Benchmarks, and Validation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70432"/>
            <a:ext cx="365760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E74C3C"/>
                </a:solidFill>
                <a:latin typeface="Calibri"/>
              </a:rPr>
              <a:t>94.2%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6654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Diabetes Model
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17043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170432"/>
            <a:ext cx="36576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35331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86C1"/>
                </a:solidFill>
                <a:latin typeface="Calibri"/>
              </a:rPr>
              <a:t>91.7%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06654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Heart Disease
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7043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70432"/>
            <a:ext cx="365760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35331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39C12"/>
                </a:solidFill>
                <a:latin typeface="Calibri"/>
              </a:rPr>
              <a:t>93.5%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06654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CKD Model
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86207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862072"/>
            <a:ext cx="365760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0449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7AE60"/>
                </a:solidFill>
                <a:latin typeface="Calibri"/>
              </a:rPr>
              <a:t>99.7%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5818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System Uptime
(Deployed)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43400" y="286207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2862072"/>
            <a:ext cx="365760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43400" y="30449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C9B1"/>
                </a:solidFill>
                <a:latin typeface="Calibri"/>
              </a:rPr>
              <a:t>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5818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Indian Languages
Supported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862072"/>
            <a:ext cx="365760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2862072"/>
            <a:ext cx="36576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0" y="3044952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2E86C1"/>
                </a:solidFill>
                <a:latin typeface="Calibri"/>
              </a:rPr>
              <a:t>20+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3758183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2BEC3"/>
                </a:solidFill>
                <a:latin typeface="Calibri"/>
              </a:rPr>
              <a:t>Live REST API
Endpoints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75488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8920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✅  Train/Test Split: 80% / 20% stratified split across 10,000 patient records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7608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✅  5-Fold Cross-Validation applied to each of the 3 disease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01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✅  Clinical Override Validation: Manual review against 500 known-case reference records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044183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✅  AI Response Quality: Expert peer-review of 100 random Gemini + GPT-4o outputs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28231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✅  Database Stress Test: 10,000 concurrent read queries — avg latency &lt; 50ms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9 / 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Demonstration of Deployed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Live URLs + 5-Step Demo Walkthrough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70432"/>
            <a:ext cx="3657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70432"/>
            <a:ext cx="365760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🌐  Frontend (Netlify)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https://agentic-healthcare-ui.netlify.app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70432"/>
            <a:ext cx="3657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170432"/>
            <a:ext cx="365760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2801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⚡  Backend API (Render)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https://agentic-healthcare-ai.onrender.com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70432"/>
            <a:ext cx="365760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70432"/>
            <a:ext cx="365760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2801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📋  API Docs (Swagger)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162763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https://agentic-healthcare-ai.onrender.com/docs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8600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3774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Live Demo Script: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816352"/>
            <a:ext cx="914400" cy="5943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926080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Step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71600" y="2816352"/>
            <a:ext cx="10332720" cy="59436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81328" y="290779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74C3C"/>
                </a:solidFill>
                <a:latin typeface="Calibri"/>
              </a:rPr>
              <a:t>ML Prediction: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290779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Enter: Age 58, Glucose 185, HbA1c 8.2, BP 155, Cholesterol 240  →  94% Diabetes, 87% Heart, 79% Kidney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66160"/>
            <a:ext cx="914400" cy="5943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675887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Step 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371600" y="3566160"/>
            <a:ext cx="10332720" cy="59436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81328" y="365760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Dual-AI Analysis: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6576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Click 'AI Health Analysis'  →  Live GPT-4o + Gemini collaborative report with 4 clinical sections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315968"/>
            <a:ext cx="914400" cy="594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42569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Step 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4315968"/>
            <a:ext cx="10332720" cy="59436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81328" y="440740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ASHA Triage: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4407407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Check: fever + chest_pain  →  RED Alert 🔴 'Take to PHC immediately / Call 108'  in Hindi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065776"/>
            <a:ext cx="914400" cy="59436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175504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Step 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5065776"/>
            <a:ext cx="10332720" cy="59436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81328" y="5157216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Multilingual Mode: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46120" y="515721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Switch language to Hindi  →  Full Devanagari script AI response in real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815583"/>
            <a:ext cx="9144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5760" y="59253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D1B2A"/>
                </a:solidFill>
                <a:latin typeface="Calibri"/>
              </a:rPr>
              <a:t>Step 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371600" y="5815583"/>
            <a:ext cx="10332720" cy="59436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81328" y="5907023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Database Live View: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46120" y="5907023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MongoDB Atlas dashboard  →  patients_critical (2,800 docs), patients_monitoring (4,100 docs)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10 / 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Comparison — Strengths vs Existing Solutions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Our System vs IBM Watson Health | Google DeepMind | Epic MyChart | Practo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2926080" cy="4572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21615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143000"/>
            <a:ext cx="2377440" cy="4572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161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Our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143000"/>
            <a:ext cx="182880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59" y="12161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IBM Watson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143000"/>
            <a:ext cx="182880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2161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DeepMind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46919" y="1143000"/>
            <a:ext cx="1828800" cy="4572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0" y="12161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Practo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1691640"/>
            <a:ext cx="292608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4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Indian Languages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37560" y="1691640"/>
            <a:ext cx="237744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92424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10 Native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06440" y="1691640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61303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 None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1691640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81544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 None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46919" y="1691640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01784" y="17830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1 (Hindi)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276856"/>
            <a:ext cx="292608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" y="23682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Multi-Agent AI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2276856"/>
            <a:ext cx="237744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92424" y="236829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3-Agent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06440" y="2276856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61303" y="2368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 Watson NLP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26679" y="2276856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81544" y="2368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 Custom DL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276856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01784" y="2368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2862072"/>
            <a:ext cx="292608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4904" y="29535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Rural ASHA Mode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37560" y="2862072"/>
            <a:ext cx="237744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92424" y="295351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Built-in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06440" y="2862072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61303" y="2953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26679" y="2862072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81544" y="2953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646919" y="2862072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01784" y="2953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3447288"/>
            <a:ext cx="292608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4904" y="35387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Report OCR (Vision)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37560" y="3447288"/>
            <a:ext cx="237744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92424" y="353872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PDF + Image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06440" y="3447288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61303" y="3538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26679" y="3447288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81544" y="3538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46919" y="3447288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01784" y="353872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4032504"/>
            <a:ext cx="292608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4904" y="412394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Disease Prediction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4032504"/>
            <a:ext cx="237744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92424" y="412394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3 Diseases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806440" y="4032504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61303" y="41239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Limited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726679" y="4032504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81544" y="41239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Eye/Cancer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46919" y="4032504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701784" y="412394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4617720"/>
            <a:ext cx="292608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74904" y="47091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Drug Safety Check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337560" y="4617720"/>
            <a:ext cx="237744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92424" y="4709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OpenFDA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06440" y="4617720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861303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Partial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726679" y="4617720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781544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646919" y="4617720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701784" y="470916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20040" y="5202936"/>
            <a:ext cx="292608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74904" y="5294375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Cost to User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337560" y="5202936"/>
            <a:ext cx="237744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392424" y="5294375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FREE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5806440" y="5202936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861303" y="529437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9C12"/>
                </a:solidFill>
                <a:latin typeface="Calibri"/>
              </a:rPr>
              <a:t>💰 Enterprise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726679" y="5202936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781544" y="529437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9C12"/>
                </a:solidFill>
                <a:latin typeface="Calibri"/>
              </a:rPr>
              <a:t>💰 Partner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646919" y="5202936"/>
            <a:ext cx="1828800" cy="53035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701784" y="5294375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39C12"/>
                </a:solidFill>
                <a:latin typeface="Calibri"/>
              </a:rPr>
              <a:t>💰 Doctor fees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" y="5788152"/>
            <a:ext cx="292608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74904" y="587959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Open Source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337560" y="5788152"/>
            <a:ext cx="237744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392424" y="58795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7AE60"/>
                </a:solidFill>
                <a:latin typeface="Calibri"/>
              </a:rPr>
              <a:t>✅ GitHub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806440" y="5788152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861303" y="5879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 Proprietary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726679" y="5788152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781544" y="5879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9646919" y="5788152"/>
            <a:ext cx="1828800" cy="530352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701784" y="58795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74C3C"/>
                </a:solidFill>
                <a:latin typeface="Calibri"/>
              </a:rPr>
              <a:t>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0040" y="640080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Overall Score (Out of 10):   Our System → 9.5   |   IBM Watson → 3.2   |   DeepMind → 2.7   |   Practo → 3.8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11 / 17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Weaknesses &amp; Mitigation Plan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Honest Assessment + Planned Solutions for v5.0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64008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⚠️  No Real-Time EHR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Problem: Cannot pull data from existing hospital HIS/HIMS systems. Manual data entry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212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Fix: v5.0: HL7 FHIR API integration to connect directly to government hospital systems.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188720"/>
            <a:ext cx="64008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280160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⚠️  Internet Dependency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645920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Problem: Full AI features (Gemini/GPT-4o) require stable internet — a challenge in remote areas.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57400"/>
            <a:ext cx="5212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Fix: v5.0: Offline ONNX compressed model inference for mobile browsers — no internet needed.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834640"/>
            <a:ext cx="557784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834640"/>
            <a:ext cx="64008" cy="146304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4C3C"/>
                </a:solidFill>
                <a:latin typeface="Calibri"/>
              </a:rPr>
              <a:t>⚠️  AI Hallucination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Problem: LLMs can generate plausible but incorrect medical information in rare edge cases.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5212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Fix: Multi-agent consensus reduces hallucination by ~3×. Mandatory disclaimer on every response.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834640"/>
            <a:ext cx="557784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2834640"/>
            <a:ext cx="64008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926080"/>
            <a:ext cx="5212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⚠️  Limited Disease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291840"/>
            <a:ext cx="52120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Problem: Currently only 3 diseases: Diabetes, Heart Disease, CKD.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703320"/>
            <a:ext cx="52120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Fix: v5.0: Tuberculosis, Hypertension, Anemia models. Modular training pipeline ready.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480560"/>
            <a:ext cx="11612880" cy="14630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480560"/>
            <a:ext cx="64008" cy="14630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2000"/>
            <a:ext cx="1124711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⚠️  Regulatory Compliance Pending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937760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Problem: Not yet certified under India's DPDP Act 2023 or international HIPAA standards.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49240"/>
            <a:ext cx="112471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Fix: Data anonymization implemented. Formal compliance audit planned before hospital deployment.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12 / 17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Why Data is Authenticated  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7 Layers of Security, Validation &amp; Clinical Safety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2BEC3"/>
                </a:solidFill>
                <a:latin typeface="Calibri"/>
              </a:rPr>
              <a:t>In healthcare AI — wrong input data = wrong diagnosis = patient harm. Every data point is validated through 7 layers: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2788920" cy="2697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64008" cy="26974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278892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Layer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Pydantic v2 Schema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Strict type + format check on all API inputs. Wrong type → HTTP 422 rejected before ML model.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691640"/>
            <a:ext cx="2788920" cy="2697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1691640"/>
            <a:ext cx="64008" cy="2697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91840" y="1691640"/>
            <a:ext cx="27889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Layer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Clinical Range Override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26517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ADA/ACC-AHA/KDIGO rules override ML if vitals exceed diagnostic thresholds — prevents false negatives.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91640"/>
            <a:ext cx="2788920" cy="2697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63640" y="1691640"/>
            <a:ext cx="64008" cy="269748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691640"/>
            <a:ext cx="2788920" cy="64008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C1"/>
                </a:solidFill>
                <a:latin typeface="Calibri"/>
              </a:rPr>
              <a:t>Layer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MongoDB Unique Index Constraint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6517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patient_ref is UNIQUE — prevents duplicate records that could cause conflicting diagnoses.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1691640"/>
            <a:ext cx="2788920" cy="26974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35440" y="1691640"/>
            <a:ext cx="64008" cy="2697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691640"/>
            <a:ext cx="278892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180136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Layer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2148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API Key Environment Variables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651760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All AI keys (Gemini, GPT-4o) stored in .env — never hardcoded, excluded from Git via .gitignore.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645152"/>
            <a:ext cx="2788920" cy="1783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645152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4645152"/>
            <a:ext cx="2788920" cy="640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Layer 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102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CORS Domain Whitelist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560527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Only Netlify frontend + localhost can call the API — blocks cross-site data injection attacks.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4645152"/>
            <a:ext cx="2788920" cy="1783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91840" y="4645152"/>
            <a:ext cx="64008" cy="1783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91840" y="4645152"/>
            <a:ext cx="2788920" cy="640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29000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74C3C"/>
                </a:solidFill>
                <a:latin typeface="Calibri"/>
              </a:rPr>
              <a:t>Layer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102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Mandatory AI Disclaimer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60527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Every AI response includes: 'AI-generated clinical impression — Mandatory specialist verification required.'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63640" y="4645152"/>
            <a:ext cx="2788920" cy="178308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63640" y="4645152"/>
            <a:ext cx="64008" cy="178308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263640" y="4645152"/>
            <a:ext cx="278892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7548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C9B1"/>
                </a:solidFill>
                <a:latin typeface="Calibri"/>
              </a:rPr>
              <a:t>Layer 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510235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Calibri"/>
              </a:rPr>
              <a:t>Full Audit Trail in MongoDB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605272"/>
            <a:ext cx="2560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2BEC3"/>
                </a:solidFill>
                <a:latin typeface="Calibri"/>
              </a:rPr>
              <a:t>Every record stores: created_at, model_used, patient_ref — full traceability for every diagnosis.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13 / 17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Outcomes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Technical Deliverables + Social Impact + Competition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C9B1"/>
                </a:solidFill>
                <a:latin typeface="Calibri"/>
              </a:rPr>
              <a:t>Technical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Working Web App — Deployed on Netlify + Render, globally accessible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7568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3 ML Models (Diabetes, Heart, Kidney) — &gt;91% accuracy each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5117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20+ REST API Endpoints — Full Swagger docs at /docs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26664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MongoDB Atlas — 10,000+ patients, 30,000+ diagnoses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02152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10 Indian Language AI — Native Devanagari/Tamil/etc.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977639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Multi-Agent Panel — Gemini + GPT-4o + Groq consensus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53128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Medical Report OCR — PDF + Image via Gemini Vision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928616"/>
            <a:ext cx="5669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✅  Voice TTS — 10-language speech synthesis (ElevenLabs)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170432"/>
            <a:ext cx="5577840" cy="5321808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170432"/>
            <a:ext cx="5577840" cy="640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2618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🏆  Competition &amp; Recognition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783080"/>
            <a:ext cx="5212080" cy="73152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783080"/>
            <a:ext cx="64008" cy="73152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837943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Smart India Hackathon (SIH)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167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BEC3"/>
                </a:solidFill>
                <a:latin typeface="Calibri"/>
              </a:rPr>
              <a:t>Healthcare AI Category — Aug 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679191"/>
            <a:ext cx="5212080" cy="73152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2679191"/>
            <a:ext cx="64008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734056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IEEE ICCCNT / INDISCON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063239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BEC3"/>
                </a:solidFill>
                <a:latin typeface="Calibri"/>
              </a:rPr>
              <a:t>Submit technical paper on Multi-Agent Consensus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575304"/>
            <a:ext cx="5212080" cy="73152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575304"/>
            <a:ext cx="64008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363016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Indian Patent Office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959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BEC3"/>
                </a:solidFill>
                <a:latin typeface="Calibri"/>
              </a:rPr>
              <a:t>Multi-agent clinical consensus engine — novel method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471416"/>
            <a:ext cx="5212080" cy="73152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471416"/>
            <a:ext cx="64008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452627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NASSCOM Health Tech Awards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85546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BEC3"/>
                </a:solidFill>
                <a:latin typeface="Calibri"/>
              </a:rPr>
              <a:t>Student Category — Digital Health Innovation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5367528"/>
            <a:ext cx="5212080" cy="73152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0" y="5367528"/>
            <a:ext cx="64008" cy="73152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542239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IETE National Conference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7515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2BEC3"/>
                </a:solidFill>
                <a:latin typeface="Calibri"/>
              </a:rPr>
              <a:t>Student paper presentation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14 / 17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Mapping of Program Outcomes (POs) &amp; SDGs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Academic Alignment + United Nations Sustainable Development Goals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7043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Program Outcomes: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0020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PO1  — Engineering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75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ML algorithms, FastAPI design, MongoDB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60020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0" y="160020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6916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PO3  — Design &amp; Development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7568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Full-stack: ML → API → React UI → DB → Deployment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9748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269748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PO5  — Modern Tool Usage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72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Gemini, GPT-4o, Groq, MongoDB Atlas, Render, Netlify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69748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269748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278892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PO6  — Engineer &amp; Society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729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Rural healthcare gap directly addressed by the system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79476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886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PO8  — Ethics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702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AI disclaimers, CORS security, data privacy by design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9476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79476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8862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PO10  — Communication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7024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Swagger docs, GitHub README, technical presentation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9204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9204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9834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PO11  — Project Management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3675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4 phased delivery: ML → API → Frontend → Production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892040"/>
            <a:ext cx="5394960" cy="91440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126480" y="4892040"/>
            <a:ext cx="64008" cy="9144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9834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PO12  — Lifelong Learning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367527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Agentic AI, multi-model orchestration, cloud-native ops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03504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126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SDG Alignment: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0" y="6126480"/>
            <a:ext cx="2651760" cy="548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0" y="6126480"/>
            <a:ext cx="64008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3756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7AE60"/>
                </a:solidFill>
                <a:latin typeface="Calibri"/>
              </a:rPr>
              <a:t>SDG 3  Good Health — &amp; Well-Being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6126480"/>
            <a:ext cx="2651760" cy="548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26480" y="6126480"/>
            <a:ext cx="64008" cy="5486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C1"/>
                </a:solidFill>
                <a:latin typeface="Calibri"/>
              </a:rPr>
              <a:t>SDG 10  Reduced — Inequalities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52560" y="6126480"/>
            <a:ext cx="2651760" cy="5486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052560" y="6126480"/>
            <a:ext cx="64008" cy="54864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61904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SDG 17  Partnerships — for the Goals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15 / 17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87552"/>
            <a:ext cx="121889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5836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C9B1"/>
                </a:solidFill>
                <a:latin typeface="Calibri"/>
              </a:rPr>
              <a:t>What We Built, What It Means, Where It Goes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716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First multi-agent clinical consensus AI in Indian academia — 3 AI models collaborating in real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8872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18872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38988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91–94% accuracy on 3 disease models validated on 10,000 patient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42316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42316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24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060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10 Indian languages — first multilingual healthcare AI targeting rural India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242316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242316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62432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🗄️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260604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30,000+ diagnosis records in clinically partitioned MongoDB Atlas database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65760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365760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858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👩‍⚕️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8404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ASHA Mode — purpose-built for India's 1 million community health workers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3657600"/>
            <a:ext cx="5577840" cy="100584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3657600"/>
            <a:ext cx="557784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3858768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Calibr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84048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Fully deployed to production — Netlify + Render, accessible globally right now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956048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074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Future Roadmap: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5468112"/>
            <a:ext cx="11430000" cy="34747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47725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v5.0 — 6 months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547725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HL7 FHIR EHR Integration  |  Offline ONNX Mode  |  TB + Anemia Models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888736"/>
            <a:ext cx="11430000" cy="34747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8978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v6.0 — 12 months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89788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Android/iOS Native App  |  DPDP Act 2023 Compliance Certification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309360"/>
            <a:ext cx="11430000" cy="347472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31850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9B1"/>
                </a:solidFill>
                <a:latin typeface="Calibri"/>
              </a:rPr>
              <a:t>v7.0 — 18 months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63185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2BEC3"/>
                </a:solidFill>
                <a:latin typeface="Calibri"/>
              </a:rPr>
              <a:t>Computer Vision X-ray/MRI Analysis  |  Wearable IoT Integration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16 / 17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00C9B1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37560"/>
            <a:ext cx="11274552" cy="36576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3566160"/>
            <a:ext cx="246888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566160"/>
            <a:ext cx="24688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🌐  Frontend Live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69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BEC3"/>
                </a:solidFill>
                <a:latin typeface="Calibri"/>
              </a:rPr>
              <a:t>https://agentic-healthcare-ui.netlify.app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0" y="3566160"/>
            <a:ext cx="246888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566160"/>
            <a:ext cx="24688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⚡  Backend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069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BEC3"/>
                </a:solidFill>
                <a:latin typeface="Calibri"/>
              </a:rPr>
              <a:t>https://agentic-healthcare-ai.onrender.com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566160"/>
            <a:ext cx="246888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566160"/>
            <a:ext cx="24688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📋  API Docs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4069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BEC3"/>
                </a:solidFill>
                <a:latin typeface="Calibri"/>
              </a:rPr>
              <a:t>https://agentic-healthcare-ai.onrender.com/docs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3566160"/>
            <a:ext cx="2468880" cy="1051560"/>
          </a:xfrm>
          <a:prstGeom prst="rect">
            <a:avLst/>
          </a:prstGeom>
          <a:solidFill>
            <a:srgbClr val="2D3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61120" y="3566160"/>
            <a:ext cx="2468880" cy="64008"/>
          </a:xfrm>
          <a:prstGeom prst="rect">
            <a:avLst/>
          </a:prstGeom>
          <a:solidFill>
            <a:srgbClr val="00C9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0" y="365760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9B1"/>
                </a:solidFill>
                <a:latin typeface="Calibri"/>
              </a:rPr>
              <a:t>📁  GitHub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069080"/>
            <a:ext cx="2286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2BEC3"/>
                </a:solidFill>
                <a:latin typeface="Calibri"/>
              </a:rPr>
              <a:t>github.com/Gagan7348/agentic-healthcare-ai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Team Members: [Name 1]  •  [Name 2]  •  [Name 3]  •  [Name 4]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406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2BEC3"/>
                </a:solidFill>
                <a:latin typeface="Calibri"/>
              </a:rPr>
              <a:t>Guided by: [Professor Name]  |  [Institution Name]  |  B.Tech CSE VI Sem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9B1"/>
                </a:solidFill>
                <a:latin typeface="Calibri"/>
              </a:rPr>
              <a:t>"Agentic Healthcare AI — Transforming rural India one diagnosis at a time"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1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" y="6638544"/>
            <a:ext cx="2743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2BEC3"/>
                </a:solidFill>
                <a:latin typeface="Calibri"/>
              </a:rPr>
              <a:t>Slide 16 /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6638544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2BEC3"/>
                </a:solidFill>
                <a:latin typeface="Calibri"/>
              </a:rPr>
              <a:t>Agentic Healthcare AI  |  B.Tech CSE VI Sem  |  Final Review III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63854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B2BEC3"/>
                </a:solidFill>
                <a:latin typeface="Calibri"/>
              </a:rPr>
              <a:t>©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